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27432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4064" y="27432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87568" y="27432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91072" y="27432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94576" y="27432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27432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01584" y="27432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05088" y="27432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024128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84064" y="1024128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87568" y="1024128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1024128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4576" y="1024128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024128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024128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05088" y="1024128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773936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1773936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87568" y="1773936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1072" y="1773936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94576" y="1773936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773936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1584" y="1773936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05088" y="1773936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2523744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84064" y="2523744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87568" y="2523744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91072" y="2523744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94576" y="2523744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523744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01584" y="2523744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05088" y="2523744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3273552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4064" y="3273552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87568" y="3273552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91072" y="3273552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94576" y="3273552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3273552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01584" y="3273552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05088" y="3273552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80560" y="402336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84064" y="402336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87568" y="402336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91072" y="402336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94576" y="402336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98080" y="402336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01584" y="402336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05088" y="4023360"/>
            <a:ext cx="82296" cy="82296"/>
          </a:xfrm>
          <a:prstGeom prst="ellipse">
            <a:avLst/>
          </a:prstGeom>
          <a:solidFill>
            <a:srgbClr val="1A3550"/>
          </a:solidFill>
          <a:ln w="12700">
            <a:solidFill>
              <a:srgbClr val="1A35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57200"/>
            <a:ext cx="3749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UKTHV</a:t>
            </a:r>
            <a:endParaRPr lang="en-US" sz="4200" dirty="0"/>
          </a:p>
        </p:txBody>
      </p:sp>
      <p:sp>
        <p:nvSpPr>
          <p:cNvPr id="52" name="Text 50"/>
          <p:cNvSpPr/>
          <p:nvPr/>
        </p:nvSpPr>
        <p:spPr>
          <a:xfrm>
            <a:off x="182880" y="1280160"/>
            <a:ext cx="3749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Olist E-Commerce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</a:rPr>
              <a:t>Analytics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731520" y="2651760"/>
            <a:ext cx="26517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11887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7C4"/>
                </a:solidFill>
              </a:rPr>
              <a:t>Sector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00800" y="11887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Retail / E-Commerce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0" y="184708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7C4"/>
                </a:solidFill>
              </a:rPr>
              <a:t>Team ID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0" y="184708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UKTHV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72000" y="250545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7C4"/>
                </a:solidFill>
              </a:rPr>
              <a:t>Dataset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0" y="2505456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Brazilian E-Commerce (Olist)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572000" y="3163824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7C4"/>
                </a:solidFill>
              </a:rPr>
              <a:t>Period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0" y="3163824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Sep 2016 – Oct 2018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572000" y="382219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00800" y="3822192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72000" y="3822700"/>
            <a:ext cx="4389120" cy="5207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7C4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572000" y="4232910"/>
            <a:ext cx="4389120" cy="6000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</a:rPr>
              <a:t>Sai Thrishul  •  Burra Karthikeya  •  Hariksh Suryawanshi  •  Uday Kumar Choudhary  •  Kummara Vamsi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8600" y="4343400"/>
            <a:ext cx="3657600" cy="502920"/>
          </a:xfrm>
          <a:prstGeom prst="rect">
            <a:avLst/>
          </a:prstGeom>
          <a:solidFill>
            <a:srgbClr val="0A5A5A"/>
          </a:solidFill>
          <a:ln w="12700">
            <a:solidFill>
              <a:srgbClr val="0A5A5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" y="4343400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Capstone 2 | Data Visualization &amp;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 &amp;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173"/>
                </a:solidFill>
              </a:rPr>
              <a:t>Sector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Olist is Brazil's largest department store marketplace, connecting small and medium businesses to Brazil's e-commerce infrastructure. Operating from 2016–2018, Olist handled 100,000+ orders across 27 Brazilian states via a single centralized seller contract model.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173"/>
                </a:solidFill>
              </a:rPr>
              <a:t>Stakeholder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3657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Olist executive leadership &amp; marketplace operations team seeking actionable data-driven decisions on customer retention, seller management, and revenue growth.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297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914400"/>
            <a:ext cx="429768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6012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7C4"/>
                </a:solidFill>
              </a:rPr>
              <a:t>Core Business Question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80160"/>
            <a:ext cx="4023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"How can Olist reduce customer churn and improve seller performance to grow revenue across its e-commerce marketplace?"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246888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173"/>
                </a:solidFill>
              </a:rPr>
              <a:t>Objective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83464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Analyse transactional patterns from 100K+ orders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Identify root causes of one-time buyer behaviour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Evaluate seller quality and delivery performance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Deliver dashboard-ready KPIs and business recommendations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Engineering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20240" cy="12344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100K+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Orders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914400"/>
            <a:ext cx="192024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91440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6459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Raw CSV Files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1920240" cy="123444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91440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Analytical Columns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20840" y="914400"/>
            <a:ext cx="192024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91440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26 mo.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20840" y="1645920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Date Coverage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41148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37744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173"/>
                </a:solidFill>
              </a:rPr>
              <a:t>Data Sources &amp; Coverage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</a:rPr>
              <a:t>Source: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00200" y="27889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Kaggle — Brazilian E-Commerce (Olist)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</a:rPr>
              <a:t>Tables: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00200" y="32004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orders, customers, sellers, products,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order_items, payments, reviews, geolocation, categories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61188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</a:rPr>
              <a:t>Format: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0200" y="36118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Row-level transactional CSV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02336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5568"/>
                </a:solidFill>
              </a:rPr>
              <a:t>Date Range: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00200" y="40233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Sep 2016 – Oct 2018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2286000"/>
            <a:ext cx="42976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237744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173"/>
                </a:solidFill>
              </a:rPr>
              <a:t>Key Cleaning Steps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09160" y="2788920"/>
            <a:ext cx="393192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Null removal in delivery timestamps &amp; review scores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Standardised date formats across all tables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Deduplication of order and customer records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Merging 9 CSVs via relational keys (order_id, customer_id, seller_id)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Feature engineering: delivery delay, churn flag, seller score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Exported processed master CSV for Tableau ingestion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KPI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C7C4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Churn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% of customers with exactly one order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" cy="54864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144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E8E8"/>
                </a:solidFill>
              </a:rPr>
              <a:t>97% one-time buyers signals critical retention risk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8595360" cy="7315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1719072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C7C4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76479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Average Order Value (AOV)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08483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Total revenue ÷ total orders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810512"/>
            <a:ext cx="27432" cy="54864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719072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E8E8"/>
                </a:solidFill>
              </a:rPr>
              <a:t>Tracks monetisation effectiveness across segments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523744"/>
            <a:ext cx="8595360" cy="731520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2523744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C7C4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56946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On-Time Delivery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88950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% orders delivered on or before estimated date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615184"/>
            <a:ext cx="27432" cy="54864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523744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E8E8"/>
                </a:solidFill>
              </a:rPr>
              <a:t>Directly drives review scores and repeat purchase intent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solidFill>
            <a:srgbClr val="0A5A5A"/>
          </a:solidFill>
          <a:ln w="12700">
            <a:solidFill>
              <a:srgbClr val="0A5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3328416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C7C4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22960" y="337413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Avg. Review 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369417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Mean customer rating per order (1–5 scale)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419856"/>
            <a:ext cx="27432" cy="54864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328416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E8E8"/>
                </a:solidFill>
              </a:rPr>
              <a:t>Composite satisfaction metric tied to seller quality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731520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4133088"/>
            <a:ext cx="5029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DC7C4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41788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Seller Performance 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49884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4DE"/>
                </a:solidFill>
              </a:rPr>
              <a:t>Composite: ratings + delivery + response 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0" y="4224528"/>
            <a:ext cx="27432" cy="54864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4133088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E8E8"/>
                </a:solidFill>
              </a:rPr>
              <a:t>Identifies top / low performers for marketplace curation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EDA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960120" cy="1188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960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97%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One-Time Buyer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~97% of customers never reorder — churn is the defining challenge of Olist's marketplace model.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960120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960120"/>
            <a:ext cx="960120" cy="1188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960120"/>
            <a:ext cx="960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-0.32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87568" y="105156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Delivery × Review Correlation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87568" y="13716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Pearson r = −0.32 confirms late deliveries strongly predict lower review scores.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286000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86000"/>
            <a:ext cx="9601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286000"/>
            <a:ext cx="960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74%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23774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Credit Card Dominance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6974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Credit card accounts for 74% of payments; boleto &amp; voucher follow, signalling payment preference patterns.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81728" y="2286000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286000"/>
            <a:ext cx="96012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2286000"/>
            <a:ext cx="960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NE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87568" y="23774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Regional Delivery Gaps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87568" y="269748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North-East Brazil has the highest delivery delay rates, pointing to last-mile logistics gaps.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611880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11880"/>
            <a:ext cx="960120" cy="1188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611880"/>
            <a:ext cx="960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SP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34440" y="37033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São Paulo Concentration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02336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São Paulo state accounts for the majority of orders and sellers, creating a geographic revenue skew.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81728" y="3611880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3611880"/>
            <a:ext cx="960120" cy="1188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3611880"/>
            <a:ext cx="9601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★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687568" y="37033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Seller Response Impact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87568" y="402336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Seller response time is a strong predictor of customer satisfaction and review score outcomes.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Advanced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06908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Correlation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7947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Pearson correlation matrix across delivery delay, review scores, order value, and payment method. Key finding: r = −0.32 between delay and rating.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069080" cy="384048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1440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Regression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7947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OLS regression predicting review score from delivery delay, seller response time, and product category — delivery delay is the dominant predictor.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80360"/>
            <a:ext cx="40690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8036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Hypothesis Testing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337560"/>
            <a:ext cx="37947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Mann-Whitney U test comparing review scores for on-time vs. late deliveries confirms statistically significant difference (p &lt; 0.001).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069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80360"/>
            <a:ext cx="40690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880360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Seller Segmentation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337560"/>
            <a:ext cx="37947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Sellers clustered into High / Mid / Low performers using composite KPI scoring, enabling targeted intervention strategies.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64515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173"/>
                </a:solidFill>
              </a:rPr>
              <a:t>Forecasting: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4645152"/>
            <a:ext cx="7040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Monthly order volume shows steady growth 2016–2018 with a seasonal Q4 peak; trendline extrapolation projects continued growth if churn is addressed.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Dashboard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144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Executive 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74904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Total Revenue &amp; AOV trend (2016–2018)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Customer Churn Rate KPI card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On-Time Delivery Rate gauge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Top-10 revenue-generating product categories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Payment method distribution (pie chart)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State-level revenue choropleth map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0" cy="5029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91440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 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74904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Seller Performance Score leaderboard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Delivery delay heatmap by state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Review score distribution by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Order volume time series with trend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Seller response time vs. satisfaction scatter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</a:rPr>
              <a:t>Late-delivery root cause breakdown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E8F4F4"/>
          </a:solidFill>
          <a:ln w="12700">
            <a:solidFill>
              <a:srgbClr val="C9DC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54880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Filters &amp; Drilldowns:  Date Range  |  State / Region  |  Product Category  |  Seller Tier  |  Payment Method  |  Delivery Status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Top Decision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14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6400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Churn Is an Existential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With 97% of customers never reordering, Olist's revenue depends almost entirely on customer acquisition. Even a 5% improvement in retention would meaningfully impact long-term revenue.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114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640080" cy="18288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14400"/>
            <a:ext cx="6400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0515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Delivery Speed = Satisfaction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1508760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Delivery delay is the strongest predictor of low review scores. Sellers with &gt;7-day delays average 3.2 stars vs. 4.4 stars for on-time delivery — a direct quality signal.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14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640080" cy="1828800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71800"/>
            <a:ext cx="6400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North-East Logistics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566160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NE Brazil accounts for disproportionate delivery delays despite moderate order volume. Targeted logistics investment here offers clear quality-of-service ROI.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114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971800"/>
            <a:ext cx="640080" cy="1828800"/>
          </a:xfrm>
          <a:prstGeom prst="rect">
            <a:avLst/>
          </a:prstGeom>
          <a:solidFill>
            <a:srgbClr val="0A5A5A"/>
          </a:solidFill>
          <a:ln w="12700">
            <a:solidFill>
              <a:srgbClr val="0A5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971800"/>
            <a:ext cx="6400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089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Seller Quality Drives Marketplace Health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94960" y="3566160"/>
            <a:ext cx="3246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Top 20% of sellers generate &gt;60% of high-rated orders. Low performers depress platform scores, suggesting a seller quality curation strategy is needed.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685800" cy="71323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685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978408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Implement a Loyalty &amp; Re-engagement Programme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0" y="978408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Post-purchase email triggers, loyalty points, and personalised re-order incentives targeting the 97% one-time buyer segment.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042416"/>
            <a:ext cx="27432" cy="45720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2821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28216"/>
            <a:ext cx="6858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28216"/>
            <a:ext cx="685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1773936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Enforce Delivery SLA Standards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0" y="1773936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Require sellers to meet delivery windows; impose score penalties for &gt;3-day delays. Partner with logistics providers for NE Brazil.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0" y="1837944"/>
            <a:ext cx="27432" cy="45720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2374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523744"/>
            <a:ext cx="685800" cy="713232"/>
          </a:xfrm>
          <a:prstGeom prst="rect">
            <a:avLst/>
          </a:prstGeom>
          <a:solidFill>
            <a:srgbClr val="1B5E7B"/>
          </a:solidFill>
          <a:ln w="12700">
            <a:solidFill>
              <a:srgbClr val="1B5E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523744"/>
            <a:ext cx="685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569464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Seller Tiering &amp; Intervention System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2569464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Classify sellers into Gold / Silver / At-Risk tiers. Provide coaching and training for At-Risk sellers; fast-track visibility for top performers.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2633472"/>
            <a:ext cx="27432" cy="45720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31927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19272"/>
            <a:ext cx="685800" cy="713232"/>
          </a:xfrm>
          <a:prstGeom prst="rect">
            <a:avLst/>
          </a:prstGeom>
          <a:solidFill>
            <a:srgbClr val="0A5A5A"/>
          </a:solidFill>
          <a:ln w="12700">
            <a:solidFill>
              <a:srgbClr val="0A5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19272"/>
            <a:ext cx="685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364992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Expand Payment Options in Under-served Regions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89120" y="3364992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Promote Pix and instalment options in states with low credit card penetration to reduce cart abandonment.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7680" y="3429000"/>
            <a:ext cx="27432" cy="45720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1480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14800"/>
            <a:ext cx="685800" cy="713232"/>
          </a:xfrm>
          <a:prstGeom prst="rect">
            <a:avLst/>
          </a:prstGeom>
          <a:solidFill>
            <a:srgbClr val="184E77"/>
          </a:solidFill>
          <a:ln w="12700">
            <a:solidFill>
              <a:srgbClr val="184E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114800"/>
            <a:ext cx="685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160520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Category-Level Quality Scoring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89120" y="4160520"/>
            <a:ext cx="4389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Surface per-category satisfaction scores on the buyer-facing interface to guide purchasing decisions and reduce low-quality seller exposure.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97680" y="4224528"/>
            <a:ext cx="27432" cy="457200"/>
          </a:xfrm>
          <a:prstGeom prst="rect">
            <a:avLst/>
          </a:prstGeom>
          <a:solidFill>
            <a:srgbClr val="2DC7C4"/>
          </a:solidFill>
          <a:ln w="12700">
            <a:solidFill>
              <a:srgbClr val="2DC7C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Expected Impact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65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1965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173"/>
                </a:solidFill>
              </a:rPr>
              <a:t>+5–10%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Repeat Purchase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76272"/>
            <a:ext cx="6858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7627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Priority: High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280160" y="2176272"/>
            <a:ext cx="77724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1762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1965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960120"/>
            <a:ext cx="1965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173"/>
                </a:solidFill>
              </a:rPr>
              <a:t>+0.4★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50592" y="164592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Avg. Review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79192" y="2176272"/>
            <a:ext cx="6858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217627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Priority: High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56432" y="2176272"/>
            <a:ext cx="7772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1762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26864" y="914400"/>
            <a:ext cx="1965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26864" y="960120"/>
            <a:ext cx="1965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173"/>
                </a:solidFill>
              </a:rPr>
              <a:t>−15%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26864" y="164592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Delivery Delays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55464" y="2176272"/>
            <a:ext cx="68580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17627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Priority: High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32704" y="2176272"/>
            <a:ext cx="77724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32704" y="21762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03136" y="914400"/>
            <a:ext cx="19659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03136" y="960120"/>
            <a:ext cx="1965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173"/>
                </a:solidFill>
              </a:rPr>
              <a:t>+12%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03136" y="1645920"/>
            <a:ext cx="1965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Seller Retention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31736" y="2176272"/>
            <a:ext cx="6858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1736" y="2176272"/>
            <a:ext cx="685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Priority: Medium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08976" y="2176272"/>
            <a:ext cx="77724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08976" y="217627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2743200"/>
            <a:ext cx="8595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173"/>
                </a:solidFill>
              </a:rPr>
              <a:t>Implementation Roadmap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324612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Phase 1 (0–3 mo.)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86000" y="3246120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Enforce delivery SLA penalties; implement seller tiering dashboard; launch re-engagement email automation.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77647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Phase 2 (3–6 mo.)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286000" y="3776472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Roll out loyalty programme with points system; expand Pix / instalment payment options in low-penetration states.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4306824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Phase 3 (6–12 mo.)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286000" y="4306824"/>
            <a:ext cx="6400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Category-level quality scoring live on platform; NE Brazil logistics partnership; quarterly seller performance reviews.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822960" cy="1188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822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Currency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Dataset covers Sep 2016 – Oct 2018 only. Post-2018 market dynamics (e.g., Pix adoption, COVID impact, competitor entry) are not reflected.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14400"/>
            <a:ext cx="8229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914400"/>
            <a:ext cx="822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77840" y="1005840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Customer Identity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35331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No persistent customer identifier — churn is inferred from email hashing. True longitudinal behaviour cannot be tracked with certainty.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267712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267712"/>
            <a:ext cx="822960" cy="1188720"/>
          </a:xfrm>
          <a:prstGeom prst="rect">
            <a:avLst/>
          </a:prstGeom>
          <a:solidFill>
            <a:srgbClr val="1B5E7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267712"/>
            <a:ext cx="822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359152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Seller Context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706624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Seller characteristics (team size, location, inventory) are absent. Performance analysis is limited to transactional signals only.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67712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67712"/>
            <a:ext cx="822960" cy="118872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67712"/>
            <a:ext cx="822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⚗️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77840" y="2359152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Causality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706624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Correlation analysis cannot establish causality. Experimental (A/B test) data would be required to confirm that delivery improvements drive retention.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621024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21024"/>
            <a:ext cx="8229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621024"/>
            <a:ext cx="822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3712464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External Factors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059936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Macroeconomic events, marketing campaigns, and competitor pricing during the period are unknown and may confound observed trends.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621024"/>
            <a:ext cx="420624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621024"/>
            <a:ext cx="822960" cy="1188720"/>
          </a:xfrm>
          <a:prstGeom prst="rect">
            <a:avLst/>
          </a:prstGeom>
          <a:solidFill>
            <a:srgbClr val="1B5E7B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621024"/>
            <a:ext cx="8229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3712464"/>
            <a:ext cx="3154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Geolocation Gaps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4059936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</a:rPr>
              <a:t>~1% of orders lack valid geolocation data; regional delivery analysis may slightly undercount activity in affected zip codes.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548640"/>
            <a:ext cx="374904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Next Steps &amp;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Closing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65176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103120"/>
            <a:ext cx="35661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2514600"/>
            <a:ext cx="35661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Churn &amp; delivery are the twin priorities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Seller quality drives platform health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Data-backed decisions enable scalable growth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NE Brazil is the highest-ROI intervention zone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4572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C7C4"/>
                </a:solidFill>
              </a:rPr>
              <a:t>Future Extensions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43400" y="960120"/>
            <a:ext cx="4572000" cy="694944"/>
          </a:xfrm>
          <a:prstGeom prst="rect">
            <a:avLst/>
          </a:prstGeom>
          <a:solidFill>
            <a:srgbClr val="0D2535"/>
          </a:solidFill>
          <a:ln w="1270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960120"/>
            <a:ext cx="54864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996696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Dashboard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298448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4"/>
                </a:solidFill>
              </a:rPr>
              <a:t>Connect to a live Olist API feed for real-time KPI monitoring and alerting.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43400" y="1728216"/>
            <a:ext cx="4572000" cy="694944"/>
          </a:xfrm>
          <a:prstGeom prst="rect">
            <a:avLst/>
          </a:prstGeom>
          <a:solidFill>
            <a:srgbClr val="0D2535"/>
          </a:solidFill>
          <a:ln w="1270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1728216"/>
            <a:ext cx="54864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76479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Churn Prediction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2066544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4"/>
                </a:solidFill>
              </a:rPr>
              <a:t>Train a classification model on order history to predict next-90-day churn risk per customer.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2496312"/>
            <a:ext cx="4572000" cy="694944"/>
          </a:xfrm>
          <a:prstGeom prst="rect">
            <a:avLst/>
          </a:prstGeom>
          <a:solidFill>
            <a:srgbClr val="0D2535"/>
          </a:solidFill>
          <a:ln w="1270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2496312"/>
            <a:ext cx="54864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53288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NLP on Reviews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83464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4"/>
                </a:solidFill>
              </a:rPr>
              <a:t>Apply sentiment analysis to review text to extract actionable product and service insights.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3264408"/>
            <a:ext cx="4572000" cy="694944"/>
          </a:xfrm>
          <a:prstGeom prst="rect">
            <a:avLst/>
          </a:prstGeom>
          <a:solidFill>
            <a:srgbClr val="0D2535"/>
          </a:solidFill>
          <a:ln w="1270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3264408"/>
            <a:ext cx="54864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3300984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A/B Testing Framework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3602736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4"/>
                </a:solidFill>
              </a:rPr>
              <a:t>Design controlled experiments to validate loyalty programme and delivery SLA interventions.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4032504"/>
            <a:ext cx="4572000" cy="694944"/>
          </a:xfrm>
          <a:prstGeom prst="rect">
            <a:avLst/>
          </a:prstGeom>
          <a:solidFill>
            <a:srgbClr val="0D2535"/>
          </a:solidFill>
          <a:ln w="12700">
            <a:solidFill>
              <a:srgbClr val="1A3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4032504"/>
            <a:ext cx="54864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0690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Competitive Benchmarking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4370832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BDD4"/>
                </a:solidFill>
              </a:rPr>
              <a:t>Incorporate competitor marketplace data to contextualise Olist's performance metrics.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4754880"/>
            <a:ext cx="4572000" cy="320040"/>
          </a:xfrm>
          <a:prstGeom prst="rect">
            <a:avLst/>
          </a:prstGeom>
          <a:solidFill>
            <a:srgbClr val="07101A"/>
          </a:solidFill>
          <a:ln w="12700">
            <a:solidFill>
              <a:srgbClr val="071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47548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A8"/>
                </a:solidFill>
              </a:rPr>
              <a:t>UKTHV Team  •  Capstone 2  •  Data Visualization &amp; Analytics  •  2024–25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8479</Words>
  <Application>WPS Docs</Application>
  <PresentationFormat>On-screen Show (16:9)</PresentationFormat>
  <Paragraphs>401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UKTHV — Olist E-Commerce Analytics</dc:title>
  <dc:creator>PptxGenJS</dc:creator>
  <dc:subject>PptxGenJS Presentation</dc:subject>
  <cp:lastModifiedBy>vamsi kummara</cp:lastModifiedBy>
  <cp:revision>4</cp:revision>
  <dcterms:created xsi:type="dcterms:W3CDTF">2026-04-28T15:17:19Z</dcterms:created>
  <dcterms:modified xsi:type="dcterms:W3CDTF">2026-04-28T15:17:19Z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171B52CF5D592B4B7FCFF069A5C147DF_43</vt:lpwstr>
  </property>
  <property fmtid="{D5CDD505-2E9C-101B-9397-08002B2CF9AE}" pid="3" name="KSOProductBuildVer">
    <vt:lpwstr>1033-12.1.25880.25880</vt:lpwstr>
  </property>
</Properties>
</file>